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84c27b51-e42f-31ba-37f5-28f2be962589}">
          <p14:sldIdLst>
            <p14:sldId id="256"/>
          </p14:sldIdLst>
        </p14:section>
        <p14:section name="Дағдарыстар тарихы" id="{a6b1a34a-e460-c142-deae-e2c3bb206f65}">
          <p14:sldIdLst>
            <p14:sldId id="257"/>
            <p14:sldId id="258"/>
          </p14:sldIdLst>
        </p14:section>
        <p14:section name="Қорытынды және викторина" id="{027508ab-a020-b7b8-055d-fdd505e2daf6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Сәлемдесу. Тақырыпты атау: XIX–XX ғасырлардағы экономикалық дағдарыстар.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Дағдарыс алғаш рет 1825 жылы Англияда болды. Кейін 1836 жылы Англия мен АҚШ-та, 1841 жылы АҚШ-та, 1847 жылы АҚШ, Англия, Франция және Германияда болды. Одан соң 1873, 1882, 1890 жылдары дағдарыстар орын алды.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1900–1902 жылдардағы дағдарыс экономиканы бәрінен бұрын күйзелтті. Ол бір уақытта Ресей мен АҚШ-та басталып, алдымен металлургия өнеркәсібіне нұқсан келтірді. Кейін Англияға, содан соң Еуропа континентіне ауысты. Кейін тігін өнеркәсібі, одан кейін құрылыс, химия, көлік, электр өнеркәсіптері зардап шекті.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XIX және XX ғасырлардағы дағдарыстар қайталанып, барған сайын көп елді қамтыды. Бағалар бірте-бірте құлдырап, өнімді өткізудің мол мүмкіндігін жасады. Бұл болашақта дағдарыстан шығудың негізгі жолдарын іздеуге түрткі болды.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Викториняға көшу. Сұрақты оқып, ойлануға уақыт беріңіз, содан кейін басыңыз — дұрыс жауап ерекшеленеді.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1-сұрақ. Бірінші дағдарыс қай жылы және қай елде болды? Дұрыс жауап: 1825 жыл, Англия.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2-сұрақ. 1847 жылғы дағдарыс қандай елдерді қамтыды? Дұрыс жауап: АҚШ, Англия, Франция және Германияны.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3-сұрақ. 1900–1902 жылдардағы ең ауыр дағдарыс қай елдерде бір уақытта басталды? Дұрыс жауап: Ресей мен АҚШ-та.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4-сұрақ. 1900–1902 жылдардағы дағдарыс алдымен қай салаға нұқсан келтірді? Дұрыс жауап: Металлургия өнеркәсібіне.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5-сұрақ. 1900–1902 жылдардағы дағдарыс қалай тарады? Дұрыс жауап: АҚШ → Англия → Еуропа.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6-сұрақ. Дағдарыс тереңдегенде бағалар қалай өзгерді? Дұрыс жауап: Бірте-бірте құлдырады.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Қорытынды: қанша жауап дұрыс болды.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548640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24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1825–1902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8-СЫНЫП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Экономикалық дағдарыстар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XIX–XX ғасырлардағы күйзелістер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1005840" cy="457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440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Орындаған: ____________________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1825 — 1890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Дағдарыстар хронологиясы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19279" y="1874520"/>
            <a:ext cx="9350393" cy="0"/>
          </a:xfrm>
          <a:prstGeom prst="line">
            <a:avLst/>
          </a:prstGeom>
          <a:noFill/>
          <a:ln w="25400">
            <a:solidFill>
              <a:srgbClr val="C9B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0407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58806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9919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7079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427079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17205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318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85478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3985478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АҚШ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75604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06717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43877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1847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5543877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34003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65115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02275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1873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102275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Жаңа дағдарыс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92402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3514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60674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1882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660674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Жаңа дағдарыс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650801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1913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19073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10219073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Жаңа дағдарыс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1520" y="4800600"/>
            <a:ext cx="10725912" cy="1005840"/>
          </a:xfrm>
          <a:prstGeom prst="roundRect">
            <a:avLst>
              <a:gd name="adj" fmla="val 1363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4846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1900–1902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3840480" y="4846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экономиканы бәрінен бұрын күйзелткен дағдарыс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Дереккөз: оқулық мәтіні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ЕҢ АУЫР ДАҒДАРЫС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1900–1902 жылдардағы дағдарыс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Қайда басталды?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Ресей мен АҚШ-та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 уақытта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8264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8304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103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18304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Алдымен қай сала?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718304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Металлургия өнеркәсібі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718304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алғаш нұқсан келді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65008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5048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1031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85048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Қалай тарады?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85048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АҚШ → Англия → Еуропа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385048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американдық металл нарығы арқылы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Кейін зардап шеккен салалар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31520" y="5029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Тігін өнеркәсібі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3200400" y="5029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3840480" y="502920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Құрылыс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532120" y="5029200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Химия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949440" y="5029200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Көлік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366760" y="5029200"/>
            <a:ext cx="132588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Дереккөз: оқулық мәтіні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8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ҚОРЫТЫНДЫ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Дағдарыстар не көрсетті?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Дағдарыстар қайталанып, барған сайын көп елді қамтығанын көрсетті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98264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64024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764024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Бағалар бірте-бірте құлдырап, өнімді өткізуге мол мүмкіндік туды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65008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Болашақта дағдарыстан шығудың негізгі жолдарын іздеуге түрткі болды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00000"/>
            <a:ext cx="1069848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D9A441"/>
                </a:solidFill>
                <a:latin typeface="Calibri"/>
              </a:rPr>
              <a:t>ӨЗІМІЗДІ ТЕКСЕРЕЙІК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800000"/>
            <a:ext cx="1069848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5400" b="1">
                <a:solidFill>
                  <a:srgbClr val="FFFFFF"/>
                </a:solidFill>
                <a:latin typeface="Cambria"/>
              </a:rPr>
              <a:t>Викторина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00000"/>
            <a:ext cx="914400" cy="45720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0" b="0">
                <a:solidFill>
                  <a:srgbClr val="D9A441"/>
                </a:solidFill>
                <a:latin typeface="Calibr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50000"/>
            <a:ext cx="10698480" cy="4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0">
                <a:solidFill>
                  <a:srgbClr val="C9D1DC"/>
                </a:solidFill>
                <a:latin typeface="Calibri"/>
              </a:rPr>
              <a:t>6 сұрақ · дұрыс жауапты таңда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A8432F"/>
                </a:solidFill>
                <a:latin typeface="Calibri"/>
              </a:rPr>
              <a:t>ВИКТОРИНА · 1 /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000"/>
            <a:ext cx="1069848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1B2A41"/>
                </a:solidFill>
                <a:latin typeface="Cambria"/>
              </a:rPr>
              <a:t>Бірінші дағдарыс қай жылы және қай елде болды?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А   </a:t>
            </a:r>
            <a:r>
              <a:rPr sz="2200" b="0">
                <a:solidFill>
                  <a:srgbClr val="1B2A41"/>
                </a:solidFill>
                <a:latin typeface="Calibri"/>
              </a:rPr>
              <a:t>1825 жыл, Англия</a:t>
            </a:r>
          </a:p>
        </p:txBody>
      </p:sp>
      <p:sp>
        <p:nvSpPr>
          <p:cNvPr id="5" name="answer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D9A441"/>
                </a:solidFill>
                <a:latin typeface="Calibri"/>
              </a:rPr>
              <a:t>✓  А   </a:t>
            </a:r>
            <a:r>
              <a:rPr sz="2200" b="1">
                <a:solidFill>
                  <a:srgbClr val="FFFFFF"/>
                </a:solidFill>
                <a:latin typeface="Calibri"/>
              </a:rPr>
              <a:t>1825 жыл, Англия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Б   </a:t>
            </a:r>
            <a:r>
              <a:rPr sz="2200" b="0">
                <a:solidFill>
                  <a:srgbClr val="1B2A41"/>
                </a:solidFill>
                <a:latin typeface="Calibri"/>
              </a:rPr>
              <a:t>1836 жыл, АҚШ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В   </a:t>
            </a:r>
            <a:r>
              <a:rPr sz="2200" b="0">
                <a:solidFill>
                  <a:srgbClr val="1B2A41"/>
                </a:solidFill>
                <a:latin typeface="Calibri"/>
              </a:rPr>
              <a:t>1847 жыл, Франция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00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100" b="0">
                <a:solidFill>
                  <a:srgbClr val="6B7686"/>
                </a:solidFill>
                <a:latin typeface="Calibri"/>
              </a:rPr>
              <a:t>Басыңыз — дұрыс жауап ерекшеленеді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A8432F"/>
                </a:solidFill>
                <a:latin typeface="Calibri"/>
              </a:rPr>
              <a:t>ВИКТОРИНА · 2 /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000"/>
            <a:ext cx="1069848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1B2A41"/>
                </a:solidFill>
                <a:latin typeface="Cambria"/>
              </a:rPr>
              <a:t>1847 жылғы дағдарыс қандай елдерді қамтыды?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А   </a:t>
            </a:r>
            <a:r>
              <a:rPr sz="2200" b="0">
                <a:solidFill>
                  <a:srgbClr val="1B2A41"/>
                </a:solidFill>
                <a:latin typeface="Calibri"/>
              </a:rPr>
              <a:t>Тек Англияны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Б   </a:t>
            </a:r>
            <a:r>
              <a:rPr sz="2200" b="0">
                <a:solidFill>
                  <a:srgbClr val="1B2A41"/>
                </a:solidFill>
                <a:latin typeface="Calibri"/>
              </a:rPr>
              <a:t>АҚШ, Англия, Франция және Германияны</a:t>
            </a:r>
          </a:p>
        </p:txBody>
      </p:sp>
      <p:sp>
        <p:nvSpPr>
          <p:cNvPr id="6" name="answer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D9A441"/>
                </a:solidFill>
                <a:latin typeface="Calibri"/>
              </a:rPr>
              <a:t>✓  Б   </a:t>
            </a:r>
            <a:r>
              <a:rPr sz="2200" b="1">
                <a:solidFill>
                  <a:srgbClr val="FFFFFF"/>
                </a:solidFill>
                <a:latin typeface="Calibri"/>
              </a:rPr>
              <a:t>АҚШ, Англия, Франция және Германияны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В   </a:t>
            </a:r>
            <a:r>
              <a:rPr sz="2200" b="0">
                <a:solidFill>
                  <a:srgbClr val="1B2A41"/>
                </a:solidFill>
                <a:latin typeface="Calibri"/>
              </a:rPr>
              <a:t>Ресей мен АҚШ-ты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00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100" b="0">
                <a:solidFill>
                  <a:srgbClr val="6B7686"/>
                </a:solidFill>
                <a:latin typeface="Calibri"/>
              </a:rPr>
              <a:t>Басыңыз — дұрыс жауап ерекшеленеді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A8432F"/>
                </a:solidFill>
                <a:latin typeface="Calibri"/>
              </a:rPr>
              <a:t>ВИКТОРИНА · 3 /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000"/>
            <a:ext cx="1069848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1B2A41"/>
                </a:solidFill>
                <a:latin typeface="Cambria"/>
              </a:rPr>
              <a:t>1900–1902 жылдардағы ең ауыр дағдарыс қай елдерде бір уақытта басталды?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А   </a:t>
            </a:r>
            <a:r>
              <a:rPr sz="2200" b="0">
                <a:solidFill>
                  <a:srgbClr val="1B2A41"/>
                </a:solidFill>
                <a:latin typeface="Calibri"/>
              </a:rPr>
              <a:t>Англия мен Францияда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Б   </a:t>
            </a:r>
            <a:r>
              <a:rPr sz="2200" b="0">
                <a:solidFill>
                  <a:srgbClr val="1B2A41"/>
                </a:solidFill>
                <a:latin typeface="Calibri"/>
              </a:rPr>
              <a:t>Германия мен Англияда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В   </a:t>
            </a:r>
            <a:r>
              <a:rPr sz="2200" b="0">
                <a:solidFill>
                  <a:srgbClr val="1B2A41"/>
                </a:solidFill>
                <a:latin typeface="Calibri"/>
              </a:rPr>
              <a:t>Ресей мен АҚШ-та</a:t>
            </a:r>
          </a:p>
        </p:txBody>
      </p:sp>
      <p:sp>
        <p:nvSpPr>
          <p:cNvPr id="7" name="answer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D9A441"/>
                </a:solidFill>
                <a:latin typeface="Calibri"/>
              </a:rPr>
              <a:t>✓  В   </a:t>
            </a:r>
            <a:r>
              <a:rPr sz="2200" b="1">
                <a:solidFill>
                  <a:srgbClr val="FFFFFF"/>
                </a:solidFill>
                <a:latin typeface="Calibri"/>
              </a:rPr>
              <a:t>Ресей мен АҚШ-та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00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100" b="0">
                <a:solidFill>
                  <a:srgbClr val="6B7686"/>
                </a:solidFill>
                <a:latin typeface="Calibri"/>
              </a:rPr>
              <a:t>Басыңыз — дұрыс жауап ерекшеленеді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A8432F"/>
                </a:solidFill>
                <a:latin typeface="Calibri"/>
              </a:rPr>
              <a:t>ВИКТОРИНА · 4 /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000"/>
            <a:ext cx="1069848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1B2A41"/>
                </a:solidFill>
                <a:latin typeface="Cambria"/>
              </a:rPr>
              <a:t>1900–1902 жылдардағы дағдарыс алдымен қай салаға нұқсан келтірді?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А   </a:t>
            </a:r>
            <a:r>
              <a:rPr sz="2200" b="0">
                <a:solidFill>
                  <a:srgbClr val="1B2A41"/>
                </a:solidFill>
                <a:latin typeface="Calibri"/>
              </a:rPr>
              <a:t>Тігін өнеркәсібіне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Б   </a:t>
            </a:r>
            <a:r>
              <a:rPr sz="2200" b="0">
                <a:solidFill>
                  <a:srgbClr val="1B2A41"/>
                </a:solidFill>
                <a:latin typeface="Calibri"/>
              </a:rPr>
              <a:t>Металлургия өнеркәсібіне</a:t>
            </a:r>
          </a:p>
        </p:txBody>
      </p:sp>
      <p:sp>
        <p:nvSpPr>
          <p:cNvPr id="6" name="answer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D9A441"/>
                </a:solidFill>
                <a:latin typeface="Calibri"/>
              </a:rPr>
              <a:t>✓  Б   </a:t>
            </a:r>
            <a:r>
              <a:rPr sz="2200" b="1">
                <a:solidFill>
                  <a:srgbClr val="FFFFFF"/>
                </a:solidFill>
                <a:latin typeface="Calibri"/>
              </a:rPr>
              <a:t>Металлургия өнеркәсібіне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В   </a:t>
            </a:r>
            <a:r>
              <a:rPr sz="2200" b="0">
                <a:solidFill>
                  <a:srgbClr val="1B2A41"/>
                </a:solidFill>
                <a:latin typeface="Calibri"/>
              </a:rPr>
              <a:t>Химия өнеркәсібіне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00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100" b="0">
                <a:solidFill>
                  <a:srgbClr val="6B7686"/>
                </a:solidFill>
                <a:latin typeface="Calibri"/>
              </a:rPr>
              <a:t>Басыңыз — дұрыс жауап ерекшеленеді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A8432F"/>
                </a:solidFill>
                <a:latin typeface="Calibri"/>
              </a:rPr>
              <a:t>ВИКТОРИНА · 5 /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000"/>
            <a:ext cx="1069848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1B2A41"/>
                </a:solidFill>
                <a:latin typeface="Cambria"/>
              </a:rPr>
              <a:t>1900–1902 жылдардағы дағдарыс қалай тарады?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А   </a:t>
            </a:r>
            <a:r>
              <a:rPr sz="2200" b="0">
                <a:solidFill>
                  <a:srgbClr val="1B2A41"/>
                </a:solidFill>
                <a:latin typeface="Calibri"/>
              </a:rPr>
              <a:t>АҚШ → Англия → Еуропа</a:t>
            </a:r>
          </a:p>
        </p:txBody>
      </p:sp>
      <p:sp>
        <p:nvSpPr>
          <p:cNvPr id="5" name="answer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D9A441"/>
                </a:solidFill>
                <a:latin typeface="Calibri"/>
              </a:rPr>
              <a:t>✓  А   </a:t>
            </a:r>
            <a:r>
              <a:rPr sz="2200" b="1">
                <a:solidFill>
                  <a:srgbClr val="FFFFFF"/>
                </a:solidFill>
                <a:latin typeface="Calibri"/>
              </a:rPr>
              <a:t>АҚШ → Англия → Еуропа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Б   </a:t>
            </a:r>
            <a:r>
              <a:rPr sz="2200" b="0">
                <a:solidFill>
                  <a:srgbClr val="1B2A41"/>
                </a:solidFill>
                <a:latin typeface="Calibri"/>
              </a:rPr>
              <a:t>Англия → АҚШ → Ресей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В   </a:t>
            </a:r>
            <a:r>
              <a:rPr sz="2200" b="0">
                <a:solidFill>
                  <a:srgbClr val="1B2A41"/>
                </a:solidFill>
                <a:latin typeface="Calibri"/>
              </a:rPr>
              <a:t>Еуропа → АҚШ → Англия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00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100" b="0">
                <a:solidFill>
                  <a:srgbClr val="6B7686"/>
                </a:solidFill>
                <a:latin typeface="Calibri"/>
              </a:rPr>
              <a:t>Басыңыз — дұрыс жауап ерекшеленеді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A8432F"/>
                </a:solidFill>
                <a:latin typeface="Calibri"/>
              </a:rPr>
              <a:t>ВИКТОРИНА · 6 /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000"/>
            <a:ext cx="1069848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1B2A41"/>
                </a:solidFill>
                <a:latin typeface="Cambria"/>
              </a:rPr>
              <a:t>Дағдарыс тереңдегенде бағалар қалай өзгерді?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А   </a:t>
            </a:r>
            <a:r>
              <a:rPr sz="2200" b="0">
                <a:solidFill>
                  <a:srgbClr val="1B2A41"/>
                </a:solidFill>
                <a:latin typeface="Calibri"/>
              </a:rPr>
              <a:t>Күрт өсті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Б   </a:t>
            </a:r>
            <a:r>
              <a:rPr sz="2200" b="0">
                <a:solidFill>
                  <a:srgbClr val="1B2A41"/>
                </a:solidFill>
                <a:latin typeface="Calibri"/>
              </a:rPr>
              <a:t>Өзгеріссіз қалды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В   </a:t>
            </a:r>
            <a:r>
              <a:rPr sz="2200" b="0">
                <a:solidFill>
                  <a:srgbClr val="1B2A41"/>
                </a:solidFill>
                <a:latin typeface="Calibri"/>
              </a:rPr>
              <a:t>Бірте-бірте құлдырады</a:t>
            </a:r>
          </a:p>
        </p:txBody>
      </p:sp>
      <p:sp>
        <p:nvSpPr>
          <p:cNvPr id="7" name="answer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D9A441"/>
                </a:solidFill>
                <a:latin typeface="Calibri"/>
              </a:rPr>
              <a:t>✓  В   </a:t>
            </a:r>
            <a:r>
              <a:rPr sz="2200" b="1">
                <a:solidFill>
                  <a:srgbClr val="FFFFFF"/>
                </a:solidFill>
                <a:latin typeface="Calibri"/>
              </a:rPr>
              <a:t>Бірте-бірте құлдырады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00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100" b="0">
                <a:solidFill>
                  <a:srgbClr val="6B7686"/>
                </a:solidFill>
                <a:latin typeface="Calibri"/>
              </a:rPr>
              <a:t>Басыңыз — дұрыс жауап ерекшеленеді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00000"/>
            <a:ext cx="1069848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5400" b="1">
                <a:solidFill>
                  <a:srgbClr val="FFFFFF"/>
                </a:solidFill>
                <a:latin typeface="Cambria"/>
              </a:rPr>
              <a:t>Жарайсың!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700000"/>
            <a:ext cx="914400" cy="45720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0" b="0">
                <a:solidFill>
                  <a:srgbClr val="D9A441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50000"/>
            <a:ext cx="10698480" cy="6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C9D1DC"/>
                </a:solidFill>
                <a:latin typeface="Calibri"/>
              </a:rPr>
              <a:t>Тақырып аяқталды: XIX–XX ғасырлардағы экономикалық дағдарыстар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gdarys">
  <a:themeElements>
    <a:clrScheme name="Dagdarys">
      <a:dk1>
        <a:srgbClr val="1B2A41"/>
      </a:dk1>
      <a:lt1>
        <a:srgbClr val="FFFFFF"/>
      </a:lt1>
      <a:dk2>
        <a:srgbClr val="24365A"/>
      </a:dk2>
      <a:lt2>
        <a:srgbClr val="F4EFE7"/>
      </a:lt2>
      <a:accent1>
        <a:srgbClr val="A8432F"/>
      </a:accent1>
      <a:accent2>
        <a:srgbClr val="D9A441"/>
      </a:accent2>
      <a:accent3>
        <a:srgbClr val="2A7F7A"/>
      </a:accent3>
      <a:accent4>
        <a:srgbClr val="4A5260"/>
      </a:accent4>
      <a:accent5>
        <a:srgbClr val="C9BFA8"/>
      </a:accent5>
      <a:accent6>
        <a:srgbClr val="8E3726"/>
      </a:accent6>
      <a:hlink>
        <a:srgbClr val="A8432F"/>
      </a:hlink>
      <a:folHlink>
        <a:srgbClr val="8E3726"/>
      </a:folHlink>
    </a:clrScheme>
    <a:fontScheme name="Dagdary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Экономикалық дағдарыстар</dc:title>
  <dc:subject>PptxGenJS Presentation</dc:subject>
  <dc:creator>PptxGenJS</dc:creator>
  <cp:lastModifiedBy>PptxGenJS</cp:lastModifiedBy>
  <cp:revision>1</cp:revision>
  <dcterms:created xsi:type="dcterms:W3CDTF">2026-10-08T12:53:53Z</dcterms:created>
  <dcterms:modified xsi:type="dcterms:W3CDTF">2026-10-08T12:53:53Z</dcterms:modified>
</cp:coreProperties>
</file>
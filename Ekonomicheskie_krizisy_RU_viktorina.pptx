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  <p:sldId id="262" r:id="rId13"/>
    <p:sldId id="263" r:id="rId14"/>
    <p:sldId id="264" r:id="rId15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84c27b51-e42f-31ba-37f5-28f2be962589}">
          <p14:sldIdLst>
            <p14:sldId id="256"/>
          </p14:sldIdLst>
        </p14:section>
        <p14:section name="Дағдарыстар тарихы" id="{a6b1a34a-e460-c142-deae-e2c3bb206f65}">
          <p14:sldIdLst>
            <p14:sldId id="257"/>
            <p14:sldId id="258"/>
          </p14:sldIdLst>
        </p14:section>
        <p14:section name="Қорытынды және викторина" id="{027508ab-a020-b7b8-055d-fdd505e2daf6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Приветствие. Назвать тему: экономические кризисы XIX–XX веков.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Впервые кризис произошёл в 1825 году в Англии. Затем в 1836 году — в Англии и США, в 1841 году — в США, в 1847 году — в США, Англии, Франции и Германии. После этого кризисы случились в 1873, 1882 и 1890 годах.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Кризис 1900–1902 годов сильнее всего потряс экономику. Он начался одновременно в России и США и сначала поразил металлургическую промышленность. Затем перешёл на Англию, а после — на континентальную Европу. Затем пострадали швейная промышленность, а следом строительство, химическая, транспортная и электротехническая отрасли.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Кризисы XIX и XX веков повторялись и охватывали всё больше стран. Цены постепенно падали, что создало широкие возможности для сбыта продукции. Это подтолкнуло к поиску основных путей выхода из кризисов в будущем.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викторине. Прочитайте вопрос, дайте время подумать, затем нажмите — правильный ответ подсветится.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1. Когда и в какой стране произошёл первый кризис? Правильный ответ: 1825 год, Англия.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2. Какую отрасль кризис 1900–1902 годов поразил первой? Правильный ответ: Металлургическую промышленность.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3. Как менялись цены, когда кризис углублялся? Правильный ответ: Постепенно падали.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Подведите итоги: сколько ответов оказалось верными.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54864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24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1825–1902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КЛАСС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Экономические кризисы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Потрясения XIX–XX веков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1005840" cy="457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5440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Выполнила: ____________________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1825 — 1890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Хронология кризисов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19279" y="1874520"/>
            <a:ext cx="9350393" cy="0"/>
          </a:xfrm>
          <a:prstGeom prst="line">
            <a:avLst/>
          </a:prstGeom>
          <a:noFill/>
          <a:ln w="25400">
            <a:solidFill>
              <a:srgbClr val="C9B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0407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58806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9919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7079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427079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17205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318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85478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3985478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75604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6717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43877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1847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543877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34003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65115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02275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1873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102275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кризис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92402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3514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60674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1882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660674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кризис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650801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1913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19073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10219073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кризис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1520" y="4800600"/>
            <a:ext cx="10725912" cy="1005840"/>
          </a:xfrm>
          <a:prstGeom prst="roundRect">
            <a:avLst>
              <a:gd name="adj" fmla="val 1363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4846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1900–1902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4846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сильный удар по экономике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текст учебника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ТЯЖЁЛЫЙ КРИЗИС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Кризис 1900–1902 годов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начался?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России и США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одновременно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8304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103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18304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отрасль первой?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18304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Металлургическая промышленность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718304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пострадала в первую очередь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65008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5048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031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85048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распространился?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85048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США → Англия → Европа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385048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американский рынок металла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пострадали отрасли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3152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Швейная промышленность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3200400" y="5029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3840480" y="502920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Строительство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532120" y="5029200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Химия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949440" y="5029200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366760" y="5029200"/>
            <a:ext cx="132588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Энергетика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текст учебника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8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показали кризисы?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Кризисы повторялись и охватывали всё больше стран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64024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764024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постепенно падали, что открыло широкие возможности для сбыта продукции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65008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подтолкнули к поиску основных путей выхода из кризисов в будущем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00000"/>
            <a:ext cx="1069848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D9A441"/>
                </a:solidFill>
                <a:latin typeface="Calibri"/>
              </a:rPr>
              <a:t>ПРОВЕРИМ СЕБЯ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800000"/>
            <a:ext cx="1069848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5400" b="1">
                <a:solidFill>
                  <a:srgbClr val="FFFFFF"/>
                </a:solidFill>
                <a:latin typeface="Cambria"/>
              </a:rPr>
              <a:t>Викторина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00000"/>
            <a:ext cx="914400" cy="4572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0" b="0">
                <a:solidFill>
                  <a:srgbClr val="D9A441"/>
                </a:solidFill>
                <a:latin typeface="Calibr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50000"/>
            <a:ext cx="10698480" cy="4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0">
                <a:solidFill>
                  <a:srgbClr val="C9D1DC"/>
                </a:solidFill>
                <a:latin typeface="Calibri"/>
              </a:rPr>
              <a:t>3 вопроса · выбери правильный ответ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1 /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Когда и в какой стране произошёл первый кризис?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1825 год, Англия</a:t>
            </a:r>
          </a:p>
        </p:txBody>
      </p:sp>
      <p:sp>
        <p:nvSpPr>
          <p:cNvPr id="5" name="answer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А   </a:t>
            </a:r>
            <a:r>
              <a:rPr sz="2200" b="1">
                <a:solidFill>
                  <a:srgbClr val="FFFFFF"/>
                </a:solidFill>
                <a:latin typeface="Calibri"/>
              </a:rPr>
              <a:t>1825 год, Англия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1836 год, США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1847 год, Франция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Нажмите — правильный ответ подсветится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2 /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Какую отрасль кризис 1900–1902 годов поразил первой?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Швейную промышленность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Металлургическую промышленность</a:t>
            </a:r>
          </a:p>
        </p:txBody>
      </p:sp>
      <p:sp>
        <p:nvSpPr>
          <p:cNvPr id="6" name="answer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Б   </a:t>
            </a:r>
            <a:r>
              <a:rPr sz="2200" b="1">
                <a:solidFill>
                  <a:srgbClr val="FFFFFF"/>
                </a:solidFill>
                <a:latin typeface="Calibri"/>
              </a:rPr>
              <a:t>Металлургическую промышленность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Химическую промышленность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Нажмите — правильный ответ подсветится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00" b="1" spc="300">
                <a:solidFill>
                  <a:srgbClr val="A8432F"/>
                </a:solidFill>
                <a:latin typeface="Calibri"/>
              </a:rPr>
              <a:t>ВИКТОРИНА · 3 /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50000"/>
            <a:ext cx="10698480" cy="1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1B2A41"/>
                </a:solidFill>
                <a:latin typeface="Cambria"/>
              </a:rPr>
              <a:t>Как менялись цены, когда кризис углублялся?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А   </a:t>
            </a:r>
            <a:r>
              <a:rPr sz="2200" b="0">
                <a:solidFill>
                  <a:srgbClr val="1B2A41"/>
                </a:solidFill>
                <a:latin typeface="Calibri"/>
              </a:rPr>
              <a:t>Резко росли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Б   </a:t>
            </a:r>
            <a:r>
              <a:rPr sz="2200" b="0">
                <a:solidFill>
                  <a:srgbClr val="1B2A41"/>
                </a:solidFill>
                <a:latin typeface="Calibri"/>
              </a:rPr>
              <a:t>Оставались прежними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A8432F"/>
                </a:solidFill>
                <a:latin typeface="Calibri"/>
              </a:rPr>
              <a:t>В   </a:t>
            </a:r>
            <a:r>
              <a:rPr sz="2200" b="0">
                <a:solidFill>
                  <a:srgbClr val="1B2A41"/>
                </a:solidFill>
                <a:latin typeface="Calibri"/>
              </a:rPr>
              <a:t>Постепенно падали</a:t>
            </a:r>
          </a:p>
        </p:txBody>
      </p:sp>
      <p:sp>
        <p:nvSpPr>
          <p:cNvPr id="7" name="answer"/>
          <p:cNvSpPr/>
          <p:nvPr/>
        </p:nvSpPr>
        <p:spPr>
          <a:xfrm>
            <a:off x="731520" y="4690000"/>
            <a:ext cx="10698480" cy="10500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200" b="1">
                <a:solidFill>
                  <a:srgbClr val="D9A441"/>
                </a:solidFill>
                <a:latin typeface="Calibri"/>
              </a:rPr>
              <a:t>✓  В   </a:t>
            </a:r>
            <a:r>
              <a:rPr sz="2200" b="1">
                <a:solidFill>
                  <a:srgbClr val="FFFFFF"/>
                </a:solidFill>
                <a:latin typeface="Calibri"/>
              </a:rPr>
              <a:t>Постепенно падали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000"/>
            <a:ext cx="10698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100" b="0">
                <a:solidFill>
                  <a:srgbClr val="6B7686"/>
                </a:solidFill>
                <a:latin typeface="Calibri"/>
              </a:rPr>
              <a:t>Нажмите — правильный ответ подсветится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00000"/>
            <a:ext cx="1069848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5400" b="1">
                <a:solidFill>
                  <a:srgbClr val="FFFFFF"/>
                </a:solidFill>
                <a:latin typeface="Cambria"/>
              </a:rPr>
              <a:t>Молодец!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700000"/>
            <a:ext cx="914400" cy="4572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00" b="0">
                <a:solidFill>
                  <a:srgbClr val="D9A441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50000"/>
            <a:ext cx="10698480" cy="6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2000" b="0">
                <a:solidFill>
                  <a:srgbClr val="C9D1DC"/>
                </a:solidFill>
                <a:latin typeface="Calibri"/>
              </a:rPr>
              <a:t>Тема пройдена: экономические кризисы XIX–XX веков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gdarys">
  <a:themeElements>
    <a:clrScheme name="Dagdarys">
      <a:dk1>
        <a:srgbClr val="1B2A41"/>
      </a:dk1>
      <a:lt1>
        <a:srgbClr val="FFFFFF"/>
      </a:lt1>
      <a:dk2>
        <a:srgbClr val="24365A"/>
      </a:dk2>
      <a:lt2>
        <a:srgbClr val="F4EFE7"/>
      </a:lt2>
      <a:accent1>
        <a:srgbClr val="A8432F"/>
      </a:accent1>
      <a:accent2>
        <a:srgbClr val="D9A441"/>
      </a:accent2>
      <a:accent3>
        <a:srgbClr val="2A7F7A"/>
      </a:accent3>
      <a:accent4>
        <a:srgbClr val="4A5260"/>
      </a:accent4>
      <a:accent5>
        <a:srgbClr val="C9BFA8"/>
      </a:accent5>
      <a:accent6>
        <a:srgbClr val="8E3726"/>
      </a:accent6>
      <a:hlink>
        <a:srgbClr val="A8432F"/>
      </a:hlink>
      <a:folHlink>
        <a:srgbClr val="8E3726"/>
      </a:folHlink>
    </a:clrScheme>
    <a:fontScheme name="Dagdary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Экономикалық дағдарыстар</dc:title>
  <dc:subject>PptxGenJS Presentation</dc:subject>
  <dc:creator>PptxGenJS</dc:creator>
  <cp:lastModifiedBy>PptxGenJS</cp:lastModifiedBy>
  <cp:revision>1</cp:revision>
  <dcterms:created xsi:type="dcterms:W3CDTF">2026-10-08T12:53:53Z</dcterms:created>
  <dcterms:modified xsi:type="dcterms:W3CDTF">2026-10-08T12:53:53Z</dcterms:modified>
</cp:coreProperties>
</file>
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іріспе" id="{84c27b51-e42f-31ba-37f5-28f2be962589}">
          <p14:sldIdLst>
            <p14:sldId id="256"/>
          </p14:sldIdLst>
        </p14:section>
        <p14:section name="Дағдарыстар тарихы" id="{a6b1a34a-e460-c142-deae-e2c3bb206f65}">
          <p14:sldIdLst>
            <p14:sldId id="257"/>
            <p14:sldId id="258"/>
          </p14:sldIdLst>
        </p14:section>
        <p14:section name="Қорытынды және викторина" id="{027508ab-a020-b7b8-055d-fdd505e2daf6}">
          <p14:sldIdLst>
            <p14:sldId id="259"/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Приветствие. Назвать тему: экономические кризисы XIX–XX веков.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Впервые кризис произошёл в 1825 году в Англии. Затем в 1836 году — в Англии и США, в 1841 году — в США, в 1847 году — в США, Англии, Франции и Германии. После этого кризисы случились в 1873, 1882 и 1890 годах.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Кризис 1900–1902 годов сильнее всего потряс экономику. Он начался одновременно в России и США и сначала поразил металлургическую промышленность. Затем перешёл на Англию, а после — на континентальную Европу. Затем пострадали швейная промышленность, а следом строительство, химическая, транспортная и электротехническая отрасли.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Кризисы XIX и XX веков повторялись и охватывали всё больше стран. Цены постепенно падали, что создало широкие возможности для сбыта продукции. Это подтолкнуло к поиску основных путей выхода из кризисов в будущем.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Переход к викторине. Прочитайте вопрос, дайте время подумать, затем нажмите — правильный ответ подсветится.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1. Когда и в какой стране произошёл первый кризис? Правильный ответ: 1825 год, Англия.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2. Какие страны охватил кризис 1847 года? Правильный ответ: США, Англию, Францию и Германию.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3. Где одновременно начался самый тяжёлый кризис 1900–1902 годов? Правильный ответ: В России и США.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4. Какую отрасль кризис 1900–1902 годов поразил первой? Правильный ответ: Металлургическую промышленность.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5. Как распространялся кризис 1900–1902 годов? Правильный ответ: США → Англия → Европа.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6. Как менялись цены, когда кризис углублялся? Правильный ответ: Постепенно падали.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Подведите итоги: сколько ответов оказалось верными.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60720" y="548640"/>
            <a:ext cx="56967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0" b="1" dirty="0">
                <a:solidFill>
                  <a:srgbClr val="243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1825–1902</a:t>
            </a:r>
            <a:endParaRPr lang="en-US" sz="6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2402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КЛАСС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606040"/>
            <a:ext cx="106984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7F4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Экономические кризисы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526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9D1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Потрясения XIX–XX веков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31520" y="5212080"/>
            <a:ext cx="1005840" cy="45720"/>
          </a:xfrm>
          <a:prstGeom prst="rect">
            <a:avLst/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731520" y="54406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1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Выполнила: ____________________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84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1825 — 1890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77724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Хронология кризисов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1419279" y="1874520"/>
            <a:ext cx="9350393" cy="0"/>
          </a:xfrm>
          <a:prstGeom prst="line">
            <a:avLst/>
          </a:prstGeom>
          <a:noFill/>
          <a:ln w="25400">
            <a:solidFill>
              <a:srgbClr val="C9BF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00407" y="1755648"/>
            <a:ext cx="237744" cy="237744"/>
          </a:xfrm>
          <a:prstGeom prst="ellipse">
            <a:avLst/>
          </a:prstGeom>
          <a:solidFill>
            <a:srgbClr val="A8432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2194560"/>
            <a:ext cx="1375519" cy="2286000"/>
          </a:xfrm>
          <a:prstGeom prst="roundRect">
            <a:avLst>
              <a:gd name="adj" fmla="val 7977"/>
            </a:avLst>
          </a:prstGeom>
          <a:solidFill>
            <a:srgbClr val="F4EFE7"/>
          </a:solidFill>
          <a:ln w="12700">
            <a:solidFill>
              <a:srgbClr val="F4EFE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331720"/>
            <a:ext cx="11011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1825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971800"/>
            <a:ext cx="1101199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5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Англия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858806" y="1755648"/>
            <a:ext cx="237744" cy="237744"/>
          </a:xfrm>
          <a:prstGeom prst="ellipse">
            <a:avLst/>
          </a:prstGeom>
          <a:solidFill>
            <a:srgbClr val="A8432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9919" y="2194560"/>
            <a:ext cx="1375519" cy="2286000"/>
          </a:xfrm>
          <a:prstGeom prst="roundRect">
            <a:avLst>
              <a:gd name="adj" fmla="val 7977"/>
            </a:avLst>
          </a:prstGeom>
          <a:solidFill>
            <a:srgbClr val="F4EFE7"/>
          </a:solidFill>
          <a:ln w="12700">
            <a:solidFill>
              <a:srgbClr val="F4EF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427079" y="2331720"/>
            <a:ext cx="11011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1836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2427079" y="2971800"/>
            <a:ext cx="1101199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5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Англия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4A5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США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417205" y="1755648"/>
            <a:ext cx="237744" cy="237744"/>
          </a:xfrm>
          <a:prstGeom prst="ellipse">
            <a:avLst/>
          </a:prstGeom>
          <a:solidFill>
            <a:srgbClr val="A8432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48318" y="2194560"/>
            <a:ext cx="1375519" cy="2286000"/>
          </a:xfrm>
          <a:prstGeom prst="roundRect">
            <a:avLst>
              <a:gd name="adj" fmla="val 7977"/>
            </a:avLst>
          </a:prstGeom>
          <a:solidFill>
            <a:srgbClr val="F4EFE7"/>
          </a:solidFill>
          <a:ln w="12700">
            <a:solidFill>
              <a:srgbClr val="F4EFE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985478" y="2331720"/>
            <a:ext cx="11011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1841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3985478" y="2971800"/>
            <a:ext cx="1101199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5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США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975604" y="1755648"/>
            <a:ext cx="237744" cy="237744"/>
          </a:xfrm>
          <a:prstGeom prst="ellipse">
            <a:avLst/>
          </a:prstGeom>
          <a:solidFill>
            <a:srgbClr val="A8432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06717" y="2194560"/>
            <a:ext cx="1375519" cy="2286000"/>
          </a:xfrm>
          <a:prstGeom prst="roundRect">
            <a:avLst>
              <a:gd name="adj" fmla="val 7977"/>
            </a:avLst>
          </a:prstGeom>
          <a:solidFill>
            <a:srgbClr val="F4EFE7"/>
          </a:solidFill>
          <a:ln w="12700">
            <a:solidFill>
              <a:srgbClr val="F4EF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543877" y="2331720"/>
            <a:ext cx="11011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1847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5543877" y="2971800"/>
            <a:ext cx="1101199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5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США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4A5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Англия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4A5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Франция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4A5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Германия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534003" y="1755648"/>
            <a:ext cx="237744" cy="237744"/>
          </a:xfrm>
          <a:prstGeom prst="ellipse">
            <a:avLst/>
          </a:prstGeom>
          <a:solidFill>
            <a:srgbClr val="1B2A4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65115" y="2194560"/>
            <a:ext cx="1375519" cy="2286000"/>
          </a:xfrm>
          <a:prstGeom prst="roundRect">
            <a:avLst>
              <a:gd name="adj" fmla="val 7977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102275" y="2331720"/>
            <a:ext cx="11011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1873</a:t>
            </a:r>
            <a:endParaRPr lang="en-US" sz="3000" dirty="0"/>
          </a:p>
        </p:txBody>
      </p:sp>
      <p:sp>
        <p:nvSpPr>
          <p:cNvPr id="24" name="Text 22"/>
          <p:cNvSpPr txBox="1"/>
          <p:nvPr/>
        </p:nvSpPr>
        <p:spPr>
          <a:xfrm>
            <a:off x="7102275" y="2971800"/>
            <a:ext cx="1101199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5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Новый кризис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9092402" y="1755648"/>
            <a:ext cx="237744" cy="237744"/>
          </a:xfrm>
          <a:prstGeom prst="ellipse">
            <a:avLst/>
          </a:prstGeom>
          <a:solidFill>
            <a:srgbClr val="1B2A4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523514" y="2194560"/>
            <a:ext cx="1375519" cy="2286000"/>
          </a:xfrm>
          <a:prstGeom prst="roundRect">
            <a:avLst>
              <a:gd name="adj" fmla="val 7977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60674" y="2331720"/>
            <a:ext cx="11011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1882</a:t>
            </a:r>
            <a:endParaRPr lang="en-US" sz="3000" dirty="0"/>
          </a:p>
        </p:txBody>
      </p:sp>
      <p:sp>
        <p:nvSpPr>
          <p:cNvPr id="28" name="Text 26"/>
          <p:cNvSpPr txBox="1"/>
          <p:nvPr/>
        </p:nvSpPr>
        <p:spPr>
          <a:xfrm>
            <a:off x="8660674" y="2971800"/>
            <a:ext cx="1101199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5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Новый кризис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10650801" y="1755648"/>
            <a:ext cx="237744" cy="237744"/>
          </a:xfrm>
          <a:prstGeom prst="ellipse">
            <a:avLst/>
          </a:prstGeom>
          <a:solidFill>
            <a:srgbClr val="1B2A4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081913" y="2194560"/>
            <a:ext cx="1375519" cy="2286000"/>
          </a:xfrm>
          <a:prstGeom prst="roundRect">
            <a:avLst>
              <a:gd name="adj" fmla="val 7977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219073" y="2331720"/>
            <a:ext cx="11011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1890</a:t>
            </a:r>
            <a:endParaRPr lang="en-US" sz="3000" dirty="0"/>
          </a:p>
        </p:txBody>
      </p:sp>
      <p:sp>
        <p:nvSpPr>
          <p:cNvPr id="32" name="Text 30"/>
          <p:cNvSpPr txBox="1"/>
          <p:nvPr/>
        </p:nvSpPr>
        <p:spPr>
          <a:xfrm>
            <a:off x="10219073" y="2971800"/>
            <a:ext cx="1101199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5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Новый кризис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731520" y="4800600"/>
            <a:ext cx="10725912" cy="1005840"/>
          </a:xfrm>
          <a:prstGeom prst="roundRect">
            <a:avLst>
              <a:gd name="adj" fmla="val 13636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51560" y="48463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1900–1902</a:t>
            </a:r>
            <a:endParaRPr lang="en-US" sz="3000" dirty="0"/>
          </a:p>
        </p:txBody>
      </p:sp>
      <p:sp>
        <p:nvSpPr>
          <p:cNvPr id="35" name="Text 33"/>
          <p:cNvSpPr txBox="1"/>
          <p:nvPr/>
        </p:nvSpPr>
        <p:spPr>
          <a:xfrm>
            <a:off x="3840480" y="4846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7F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самый сильный удар по экономике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73152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Источник: текст учебника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1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84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САМЫЙ ТЯЖЁЛЫЙ КРИЗИС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77724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Кризис 1900–1902 годов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1691640"/>
            <a:ext cx="3392424" cy="251460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51560" y="1965960"/>
            <a:ext cx="594360" cy="594360"/>
          </a:xfrm>
          <a:prstGeom prst="ellipse">
            <a:avLst/>
          </a:prstGeom>
          <a:solidFill>
            <a:srgbClr val="A8432F"/>
          </a:solidFill>
          <a:ln w="12700">
            <a:solidFill>
              <a:srgbClr val="A8432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2103120"/>
            <a:ext cx="320040" cy="320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51560" y="2697480"/>
            <a:ext cx="2752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4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Где начался?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051560" y="3017520"/>
            <a:ext cx="2935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России и США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51560" y="3749040"/>
            <a:ext cx="2752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одновременно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398264" y="1691640"/>
            <a:ext cx="3392424" cy="251460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18304" y="1965960"/>
            <a:ext cx="594360" cy="594360"/>
          </a:xfrm>
          <a:prstGeom prst="ellipse">
            <a:avLst/>
          </a:prstGeom>
          <a:solidFill>
            <a:srgbClr val="A8432F"/>
          </a:solidFill>
          <a:ln w="12700">
            <a:solidFill>
              <a:srgbClr val="A8432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5464" y="210312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718304" y="2697480"/>
            <a:ext cx="2752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4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Какая отрасль первой?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4718304" y="3017520"/>
            <a:ext cx="2935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Металлургическая промышленность</a:t>
            </a:r>
            <a:endParaRPr lang="en-US" sz="1900" dirty="0"/>
          </a:p>
        </p:txBody>
      </p:sp>
      <p:sp>
        <p:nvSpPr>
          <p:cNvPr id="15" name="Text 11"/>
          <p:cNvSpPr txBox="1"/>
          <p:nvPr/>
        </p:nvSpPr>
        <p:spPr>
          <a:xfrm>
            <a:off x="4718304" y="3749040"/>
            <a:ext cx="2752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пострадала в первую очередь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8065008" y="1691640"/>
            <a:ext cx="3392424" cy="251460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385048" y="1965960"/>
            <a:ext cx="594360" cy="594360"/>
          </a:xfrm>
          <a:prstGeom prst="ellipse">
            <a:avLst/>
          </a:prstGeom>
          <a:solidFill>
            <a:srgbClr val="A8432F"/>
          </a:solidFill>
          <a:ln w="12700">
            <a:solidFill>
              <a:srgbClr val="A8432F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2208" y="2103120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385048" y="2697480"/>
            <a:ext cx="2752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4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распространился?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8385048" y="3017520"/>
            <a:ext cx="2935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США → Англия → Европа</a:t>
            </a:r>
            <a:endParaRPr lang="en-US" sz="1900" dirty="0"/>
          </a:p>
        </p:txBody>
      </p:sp>
      <p:sp>
        <p:nvSpPr>
          <p:cNvPr id="21" name="Text 16"/>
          <p:cNvSpPr txBox="1"/>
          <p:nvPr/>
        </p:nvSpPr>
        <p:spPr>
          <a:xfrm>
            <a:off x="8385048" y="3749040"/>
            <a:ext cx="2752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через американский рынок металла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731520" y="45262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Затем пострадали отрасли</a:t>
            </a:r>
            <a:endParaRPr lang="en-US" sz="1700" dirty="0"/>
          </a:p>
        </p:txBody>
      </p:sp>
      <p:sp>
        <p:nvSpPr>
          <p:cNvPr id="23" name="Text 18"/>
          <p:cNvSpPr/>
          <p:nvPr/>
        </p:nvSpPr>
        <p:spPr>
          <a:xfrm>
            <a:off x="731520" y="5029200"/>
            <a:ext cx="2286000" cy="548640"/>
          </a:xfrm>
          <a:prstGeom prst="roundRect">
            <a:avLst>
              <a:gd name="adj" fmla="val 50000"/>
            </a:avLst>
          </a:prstGeom>
          <a:solidFill>
            <a:srgbClr val="A8432F"/>
          </a:solidFill>
          <a:ln>
            <a:solidFill>
              <a:srgbClr val="A843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7F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Швейная промышленность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3200400" y="502920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5" name="Text 20"/>
          <p:cNvSpPr/>
          <p:nvPr/>
        </p:nvSpPr>
        <p:spPr>
          <a:xfrm>
            <a:off x="3840480" y="5029200"/>
            <a:ext cx="1508760" cy="548640"/>
          </a:xfrm>
          <a:prstGeom prst="roundRect">
            <a:avLst>
              <a:gd name="adj" fmla="val 50000"/>
            </a:avLst>
          </a:prstGeom>
          <a:solidFill>
            <a:srgbClr val="1B2A41"/>
          </a:solidFill>
          <a:ln>
            <a:solidFill>
              <a:srgbClr val="1B2A4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7F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Строительство</a:t>
            </a:r>
            <a:endParaRPr lang="en-US" sz="1600" dirty="0"/>
          </a:p>
        </p:txBody>
      </p:sp>
      <p:sp>
        <p:nvSpPr>
          <p:cNvPr id="26" name="Text 21"/>
          <p:cNvSpPr/>
          <p:nvPr/>
        </p:nvSpPr>
        <p:spPr>
          <a:xfrm>
            <a:off x="5532120" y="5029200"/>
            <a:ext cx="1234440" cy="548640"/>
          </a:xfrm>
          <a:prstGeom prst="roundRect">
            <a:avLst>
              <a:gd name="adj" fmla="val 50000"/>
            </a:avLst>
          </a:prstGeom>
          <a:solidFill>
            <a:srgbClr val="1B2A41"/>
          </a:solidFill>
          <a:ln>
            <a:solidFill>
              <a:srgbClr val="1B2A4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7F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Химия</a:t>
            </a:r>
            <a:endParaRPr lang="en-US" sz="1600" dirty="0"/>
          </a:p>
        </p:txBody>
      </p:sp>
      <p:sp>
        <p:nvSpPr>
          <p:cNvPr id="27" name="Text 22"/>
          <p:cNvSpPr/>
          <p:nvPr/>
        </p:nvSpPr>
        <p:spPr>
          <a:xfrm>
            <a:off x="6949440" y="5029200"/>
            <a:ext cx="1234440" cy="548640"/>
          </a:xfrm>
          <a:prstGeom prst="roundRect">
            <a:avLst>
              <a:gd name="adj" fmla="val 50000"/>
            </a:avLst>
          </a:prstGeom>
          <a:solidFill>
            <a:srgbClr val="1B2A41"/>
          </a:solidFill>
          <a:ln>
            <a:solidFill>
              <a:srgbClr val="1B2A4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7F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Транспорт</a:t>
            </a:r>
            <a:endParaRPr lang="en-US" sz="1600" dirty="0"/>
          </a:p>
        </p:txBody>
      </p:sp>
      <p:sp>
        <p:nvSpPr>
          <p:cNvPr id="28" name="Text 23"/>
          <p:cNvSpPr/>
          <p:nvPr/>
        </p:nvSpPr>
        <p:spPr>
          <a:xfrm>
            <a:off x="8366760" y="5029200"/>
            <a:ext cx="1325880" cy="548640"/>
          </a:xfrm>
          <a:prstGeom prst="roundRect">
            <a:avLst>
              <a:gd name="adj" fmla="val 50000"/>
            </a:avLst>
          </a:prstGeom>
          <a:solidFill>
            <a:srgbClr val="1B2A41"/>
          </a:solidFill>
          <a:ln>
            <a:solidFill>
              <a:srgbClr val="1B2A4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7F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Энергетика</a:t>
            </a:r>
            <a:endParaRPr lang="en-US" sz="1600" dirty="0"/>
          </a:p>
        </p:txBody>
      </p:sp>
      <p:sp>
        <p:nvSpPr>
          <p:cNvPr id="29" name="Text 24"/>
          <p:cNvSpPr txBox="1"/>
          <p:nvPr/>
        </p:nvSpPr>
        <p:spPr>
          <a:xfrm>
            <a:off x="73152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Источник: текст учебника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A8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EE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77724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7F4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показали кризисы?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1783080"/>
            <a:ext cx="3392424" cy="3291840"/>
          </a:xfrm>
          <a:prstGeom prst="roundRect">
            <a:avLst>
              <a:gd name="adj" fmla="val 4167"/>
            </a:avLst>
          </a:prstGeom>
          <a:solidFill>
            <a:srgbClr val="8E3726"/>
          </a:solidFill>
          <a:ln w="12700">
            <a:solidFill>
              <a:srgbClr val="8E372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2057400"/>
            <a:ext cx="26609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3C9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3154680"/>
            <a:ext cx="266090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7F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Кризисы повторялись и охватывали всё больше стран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398264" y="1783080"/>
            <a:ext cx="3392424" cy="3291840"/>
          </a:xfrm>
          <a:prstGeom prst="roundRect">
            <a:avLst>
              <a:gd name="adj" fmla="val 4167"/>
            </a:avLst>
          </a:prstGeom>
          <a:solidFill>
            <a:srgbClr val="8E3726"/>
          </a:solidFill>
          <a:ln w="12700">
            <a:solidFill>
              <a:srgbClr val="8E37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64024" y="2057400"/>
            <a:ext cx="26609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3C9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4764024" y="3154680"/>
            <a:ext cx="266090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7F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Цены постепенно падали, что открыло широкие возможности для сбыта продукции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8065008" y="1783080"/>
            <a:ext cx="3392424" cy="3291840"/>
          </a:xfrm>
          <a:prstGeom prst="roundRect">
            <a:avLst>
              <a:gd name="adj" fmla="val 4167"/>
            </a:avLst>
          </a:prstGeom>
          <a:solidFill>
            <a:srgbClr val="8E3726"/>
          </a:solidFill>
          <a:ln w="12700">
            <a:solidFill>
              <a:srgbClr val="8E372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30768" y="2057400"/>
            <a:ext cx="26609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3C9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8430768" y="3154680"/>
            <a:ext cx="266090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7F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Они подтолкнули к поиску основных путей выхода из кризисов в будущем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2400000"/>
            <a:ext cx="10698480" cy="3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200" b="1" spc="300">
                <a:solidFill>
                  <a:srgbClr val="D9A441"/>
                </a:solidFill>
                <a:latin typeface="Calibri"/>
              </a:rPr>
              <a:t>ПРОВЕРИМ СЕБЯ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2800000"/>
            <a:ext cx="10698480" cy="11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5400" b="1">
                <a:solidFill>
                  <a:srgbClr val="FFFFFF"/>
                </a:solidFill>
                <a:latin typeface="Cambria"/>
              </a:rPr>
              <a:t>Викторина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4000000"/>
            <a:ext cx="914400" cy="45720"/>
          </a:xfrm>
          <a:prstGeom prst="rect">
            <a:avLst/>
          </a:prstGeom>
          <a:solidFill>
            <a:srgbClr val="D9A441"/>
          </a:solidFill>
          <a:ln>
            <a:solidFill>
              <a:srgbClr val="D9A4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00" b="0">
                <a:solidFill>
                  <a:srgbClr val="D9A441"/>
                </a:solidFill>
                <a:latin typeface="Calibri"/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250000"/>
            <a:ext cx="10698480" cy="4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800" b="0">
                <a:solidFill>
                  <a:srgbClr val="C9D1DC"/>
                </a:solidFill>
                <a:latin typeface="Calibri"/>
              </a:rPr>
              <a:t>6 вопросов · выбери правильный ответ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200" b="1" spc="300">
                <a:solidFill>
                  <a:srgbClr val="A8432F"/>
                </a:solidFill>
                <a:latin typeface="Calibri"/>
              </a:rPr>
              <a:t>ВИКТОРИНА · 1 / 6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50000"/>
            <a:ext cx="10698480" cy="1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2800" b="1">
                <a:solidFill>
                  <a:srgbClr val="1B2A41"/>
                </a:solidFill>
                <a:latin typeface="Cambria"/>
              </a:rPr>
              <a:t>Когда и в какой стране произошёл первый кризис?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250000"/>
            <a:ext cx="10698480" cy="1050000"/>
          </a:xfrm>
          <a:prstGeom prst="roundRect">
            <a:avLst>
              <a:gd name="adj" fmla="val 12000"/>
            </a:avLst>
          </a:prstGeom>
          <a:solidFill>
            <a:srgbClr val="F4EFE7"/>
          </a:solidFill>
          <a:ln>
            <a:solidFill>
              <a:srgbClr val="F4E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/>
            <a:r>
              <a:rPr sz="2200" b="1">
                <a:solidFill>
                  <a:srgbClr val="A8432F"/>
                </a:solidFill>
                <a:latin typeface="Calibri"/>
              </a:rPr>
              <a:t>А   </a:t>
            </a:r>
            <a:r>
              <a:rPr sz="2200" b="0">
                <a:solidFill>
                  <a:srgbClr val="1B2A41"/>
                </a:solidFill>
                <a:latin typeface="Calibri"/>
              </a:rPr>
              <a:t>1825 год, Англия</a:t>
            </a:r>
          </a:p>
        </p:txBody>
      </p:sp>
      <p:sp>
        <p:nvSpPr>
          <p:cNvPr id="5" name="answer"/>
          <p:cNvSpPr/>
          <p:nvPr/>
        </p:nvSpPr>
        <p:spPr>
          <a:xfrm>
            <a:off x="731520" y="2250000"/>
            <a:ext cx="10698480" cy="1050000"/>
          </a:xfrm>
          <a:prstGeom prst="roundRect">
            <a:avLst>
              <a:gd name="adj" fmla="val 12000"/>
            </a:avLst>
          </a:prstGeom>
          <a:solidFill>
            <a:srgbClr val="A8432F"/>
          </a:solidFill>
          <a:ln>
            <a:solidFill>
              <a:srgbClr val="A843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/>
            <a:r>
              <a:rPr sz="2200" b="1">
                <a:solidFill>
                  <a:srgbClr val="D9A441"/>
                </a:solidFill>
                <a:latin typeface="Calibri"/>
              </a:rPr>
              <a:t>✓  А   </a:t>
            </a:r>
            <a:r>
              <a:rPr sz="2200" b="1">
                <a:solidFill>
                  <a:srgbClr val="FFFFFF"/>
                </a:solidFill>
                <a:latin typeface="Calibri"/>
              </a:rPr>
              <a:t>1825 год, Англия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470000"/>
            <a:ext cx="10698480" cy="1050000"/>
          </a:xfrm>
          <a:prstGeom prst="roundRect">
            <a:avLst>
              <a:gd name="adj" fmla="val 12000"/>
            </a:avLst>
          </a:prstGeom>
          <a:solidFill>
            <a:srgbClr val="F4EFE7"/>
          </a:solidFill>
          <a:ln>
            <a:solidFill>
              <a:srgbClr val="F4E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/>
            <a:r>
              <a:rPr sz="2200" b="1">
                <a:solidFill>
                  <a:srgbClr val="A8432F"/>
                </a:solidFill>
                <a:latin typeface="Calibri"/>
              </a:rPr>
              <a:t>Б   </a:t>
            </a:r>
            <a:r>
              <a:rPr sz="2200" b="0">
                <a:solidFill>
                  <a:srgbClr val="1B2A41"/>
                </a:solidFill>
                <a:latin typeface="Calibri"/>
              </a:rPr>
              <a:t>1836 год, США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690000"/>
            <a:ext cx="10698480" cy="1050000"/>
          </a:xfrm>
          <a:prstGeom prst="roundRect">
            <a:avLst>
              <a:gd name="adj" fmla="val 12000"/>
            </a:avLst>
          </a:prstGeom>
          <a:solidFill>
            <a:srgbClr val="F4EFE7"/>
          </a:solidFill>
          <a:ln>
            <a:solidFill>
              <a:srgbClr val="F4E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/>
            <a:r>
              <a:rPr sz="2200" b="1">
                <a:solidFill>
                  <a:srgbClr val="A8432F"/>
                </a:solidFill>
                <a:latin typeface="Calibri"/>
              </a:rPr>
              <a:t>В   </a:t>
            </a:r>
            <a:r>
              <a:rPr sz="2200" b="0">
                <a:solidFill>
                  <a:srgbClr val="1B2A41"/>
                </a:solidFill>
                <a:latin typeface="Calibri"/>
              </a:rPr>
              <a:t>1847 год, Франция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400000"/>
            <a:ext cx="1069848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100" b="0">
                <a:solidFill>
                  <a:srgbClr val="6B7686"/>
                </a:solidFill>
                <a:latin typeface="Calibri"/>
              </a:rPr>
              <a:t>Нажмите — правильный ответ подсветится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200" b="1" spc="300">
                <a:solidFill>
                  <a:srgbClr val="A8432F"/>
                </a:solidFill>
                <a:latin typeface="Calibri"/>
              </a:rPr>
              <a:t>ВИКТОРИНА · 2 / 6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50000"/>
            <a:ext cx="10698480" cy="1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2800" b="1">
                <a:solidFill>
                  <a:srgbClr val="1B2A41"/>
                </a:solidFill>
                <a:latin typeface="Cambria"/>
              </a:rPr>
              <a:t>Какие страны охватил кризис 1847 года?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250000"/>
            <a:ext cx="10698480" cy="1050000"/>
          </a:xfrm>
          <a:prstGeom prst="roundRect">
            <a:avLst>
              <a:gd name="adj" fmla="val 12000"/>
            </a:avLst>
          </a:prstGeom>
          <a:solidFill>
            <a:srgbClr val="F4EFE7"/>
          </a:solidFill>
          <a:ln>
            <a:solidFill>
              <a:srgbClr val="F4E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/>
            <a:r>
              <a:rPr sz="2200" b="1">
                <a:solidFill>
                  <a:srgbClr val="A8432F"/>
                </a:solidFill>
                <a:latin typeface="Calibri"/>
              </a:rPr>
              <a:t>А   </a:t>
            </a:r>
            <a:r>
              <a:rPr sz="2200" b="0">
                <a:solidFill>
                  <a:srgbClr val="1B2A41"/>
                </a:solidFill>
                <a:latin typeface="Calibri"/>
              </a:rPr>
              <a:t>Только Англию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470000"/>
            <a:ext cx="10698480" cy="1050000"/>
          </a:xfrm>
          <a:prstGeom prst="roundRect">
            <a:avLst>
              <a:gd name="adj" fmla="val 12000"/>
            </a:avLst>
          </a:prstGeom>
          <a:solidFill>
            <a:srgbClr val="F4EFE7"/>
          </a:solidFill>
          <a:ln>
            <a:solidFill>
              <a:srgbClr val="F4E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/>
            <a:r>
              <a:rPr sz="2200" b="1">
                <a:solidFill>
                  <a:srgbClr val="A8432F"/>
                </a:solidFill>
                <a:latin typeface="Calibri"/>
              </a:rPr>
              <a:t>Б   </a:t>
            </a:r>
            <a:r>
              <a:rPr sz="2200" b="0">
                <a:solidFill>
                  <a:srgbClr val="1B2A41"/>
                </a:solidFill>
                <a:latin typeface="Calibri"/>
              </a:rPr>
              <a:t>США, Англию, Францию и Германию</a:t>
            </a:r>
          </a:p>
        </p:txBody>
      </p:sp>
      <p:sp>
        <p:nvSpPr>
          <p:cNvPr id="6" name="answer"/>
          <p:cNvSpPr/>
          <p:nvPr/>
        </p:nvSpPr>
        <p:spPr>
          <a:xfrm>
            <a:off x="731520" y="3470000"/>
            <a:ext cx="10698480" cy="1050000"/>
          </a:xfrm>
          <a:prstGeom prst="roundRect">
            <a:avLst>
              <a:gd name="adj" fmla="val 12000"/>
            </a:avLst>
          </a:prstGeom>
          <a:solidFill>
            <a:srgbClr val="A8432F"/>
          </a:solidFill>
          <a:ln>
            <a:solidFill>
              <a:srgbClr val="A843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/>
            <a:r>
              <a:rPr sz="2200" b="1">
                <a:solidFill>
                  <a:srgbClr val="D9A441"/>
                </a:solidFill>
                <a:latin typeface="Calibri"/>
              </a:rPr>
              <a:t>✓  Б   </a:t>
            </a:r>
            <a:r>
              <a:rPr sz="2200" b="1">
                <a:solidFill>
                  <a:srgbClr val="FFFFFF"/>
                </a:solidFill>
                <a:latin typeface="Calibri"/>
              </a:rPr>
              <a:t>США, Англию, Францию и Германию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690000"/>
            <a:ext cx="10698480" cy="1050000"/>
          </a:xfrm>
          <a:prstGeom prst="roundRect">
            <a:avLst>
              <a:gd name="adj" fmla="val 12000"/>
            </a:avLst>
          </a:prstGeom>
          <a:solidFill>
            <a:srgbClr val="F4EFE7"/>
          </a:solidFill>
          <a:ln>
            <a:solidFill>
              <a:srgbClr val="F4E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/>
            <a:r>
              <a:rPr sz="2200" b="1">
                <a:solidFill>
                  <a:srgbClr val="A8432F"/>
                </a:solidFill>
                <a:latin typeface="Calibri"/>
              </a:rPr>
              <a:t>В   </a:t>
            </a:r>
            <a:r>
              <a:rPr sz="2200" b="0">
                <a:solidFill>
                  <a:srgbClr val="1B2A41"/>
                </a:solidFill>
                <a:latin typeface="Calibri"/>
              </a:rPr>
              <a:t>Россию и США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400000"/>
            <a:ext cx="1069848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100" b="0">
                <a:solidFill>
                  <a:srgbClr val="6B7686"/>
                </a:solidFill>
                <a:latin typeface="Calibri"/>
              </a:rPr>
              <a:t>Нажмите — правильный ответ подсветится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200" b="1" spc="300">
                <a:solidFill>
                  <a:srgbClr val="A8432F"/>
                </a:solidFill>
                <a:latin typeface="Calibri"/>
              </a:rPr>
              <a:t>ВИКТОРИНА · 3 / 6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50000"/>
            <a:ext cx="10698480" cy="1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2800" b="1">
                <a:solidFill>
                  <a:srgbClr val="1B2A41"/>
                </a:solidFill>
                <a:latin typeface="Cambria"/>
              </a:rPr>
              <a:t>Где одновременно начался самый тяжёлый кризис 1900–1902 годов?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250000"/>
            <a:ext cx="10698480" cy="1050000"/>
          </a:xfrm>
          <a:prstGeom prst="roundRect">
            <a:avLst>
              <a:gd name="adj" fmla="val 12000"/>
            </a:avLst>
          </a:prstGeom>
          <a:solidFill>
            <a:srgbClr val="F4EFE7"/>
          </a:solidFill>
          <a:ln>
            <a:solidFill>
              <a:srgbClr val="F4E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/>
            <a:r>
              <a:rPr sz="2200" b="1">
                <a:solidFill>
                  <a:srgbClr val="A8432F"/>
                </a:solidFill>
                <a:latin typeface="Calibri"/>
              </a:rPr>
              <a:t>А   </a:t>
            </a:r>
            <a:r>
              <a:rPr sz="2200" b="0">
                <a:solidFill>
                  <a:srgbClr val="1B2A41"/>
                </a:solidFill>
                <a:latin typeface="Calibri"/>
              </a:rPr>
              <a:t>В Англии и Франции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470000"/>
            <a:ext cx="10698480" cy="1050000"/>
          </a:xfrm>
          <a:prstGeom prst="roundRect">
            <a:avLst>
              <a:gd name="adj" fmla="val 12000"/>
            </a:avLst>
          </a:prstGeom>
          <a:solidFill>
            <a:srgbClr val="F4EFE7"/>
          </a:solidFill>
          <a:ln>
            <a:solidFill>
              <a:srgbClr val="F4E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/>
            <a:r>
              <a:rPr sz="2200" b="1">
                <a:solidFill>
                  <a:srgbClr val="A8432F"/>
                </a:solidFill>
                <a:latin typeface="Calibri"/>
              </a:rPr>
              <a:t>Б   </a:t>
            </a:r>
            <a:r>
              <a:rPr sz="2200" b="0">
                <a:solidFill>
                  <a:srgbClr val="1B2A41"/>
                </a:solidFill>
                <a:latin typeface="Calibri"/>
              </a:rPr>
              <a:t>В Германии и Англии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690000"/>
            <a:ext cx="10698480" cy="1050000"/>
          </a:xfrm>
          <a:prstGeom prst="roundRect">
            <a:avLst>
              <a:gd name="adj" fmla="val 12000"/>
            </a:avLst>
          </a:prstGeom>
          <a:solidFill>
            <a:srgbClr val="F4EFE7"/>
          </a:solidFill>
          <a:ln>
            <a:solidFill>
              <a:srgbClr val="F4E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/>
            <a:r>
              <a:rPr sz="2200" b="1">
                <a:solidFill>
                  <a:srgbClr val="A8432F"/>
                </a:solidFill>
                <a:latin typeface="Calibri"/>
              </a:rPr>
              <a:t>В   </a:t>
            </a:r>
            <a:r>
              <a:rPr sz="2200" b="0">
                <a:solidFill>
                  <a:srgbClr val="1B2A41"/>
                </a:solidFill>
                <a:latin typeface="Calibri"/>
              </a:rPr>
              <a:t>В России и США</a:t>
            </a:r>
          </a:p>
        </p:txBody>
      </p:sp>
      <p:sp>
        <p:nvSpPr>
          <p:cNvPr id="7" name="answer"/>
          <p:cNvSpPr/>
          <p:nvPr/>
        </p:nvSpPr>
        <p:spPr>
          <a:xfrm>
            <a:off x="731520" y="4690000"/>
            <a:ext cx="10698480" cy="1050000"/>
          </a:xfrm>
          <a:prstGeom prst="roundRect">
            <a:avLst>
              <a:gd name="adj" fmla="val 12000"/>
            </a:avLst>
          </a:prstGeom>
          <a:solidFill>
            <a:srgbClr val="A8432F"/>
          </a:solidFill>
          <a:ln>
            <a:solidFill>
              <a:srgbClr val="A843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/>
            <a:r>
              <a:rPr sz="2200" b="1">
                <a:solidFill>
                  <a:srgbClr val="D9A441"/>
                </a:solidFill>
                <a:latin typeface="Calibri"/>
              </a:rPr>
              <a:t>✓  В   </a:t>
            </a:r>
            <a:r>
              <a:rPr sz="2200" b="1">
                <a:solidFill>
                  <a:srgbClr val="FFFFFF"/>
                </a:solidFill>
                <a:latin typeface="Calibri"/>
              </a:rPr>
              <a:t>В России и США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400000"/>
            <a:ext cx="1069848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100" b="0">
                <a:solidFill>
                  <a:srgbClr val="6B7686"/>
                </a:solidFill>
                <a:latin typeface="Calibri"/>
              </a:rPr>
              <a:t>Нажмите — правильный ответ подсветится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200" b="1" spc="300">
                <a:solidFill>
                  <a:srgbClr val="A8432F"/>
                </a:solidFill>
                <a:latin typeface="Calibri"/>
              </a:rPr>
              <a:t>ВИКТОРИНА · 4 / 6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50000"/>
            <a:ext cx="10698480" cy="1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2800" b="1">
                <a:solidFill>
                  <a:srgbClr val="1B2A41"/>
                </a:solidFill>
                <a:latin typeface="Cambria"/>
              </a:rPr>
              <a:t>Какую отрасль кризис 1900–1902 годов поразил первой?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250000"/>
            <a:ext cx="10698480" cy="1050000"/>
          </a:xfrm>
          <a:prstGeom prst="roundRect">
            <a:avLst>
              <a:gd name="adj" fmla="val 12000"/>
            </a:avLst>
          </a:prstGeom>
          <a:solidFill>
            <a:srgbClr val="F4EFE7"/>
          </a:solidFill>
          <a:ln>
            <a:solidFill>
              <a:srgbClr val="F4E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/>
            <a:r>
              <a:rPr sz="2200" b="1">
                <a:solidFill>
                  <a:srgbClr val="A8432F"/>
                </a:solidFill>
                <a:latin typeface="Calibri"/>
              </a:rPr>
              <a:t>А   </a:t>
            </a:r>
            <a:r>
              <a:rPr sz="2200" b="0">
                <a:solidFill>
                  <a:srgbClr val="1B2A41"/>
                </a:solidFill>
                <a:latin typeface="Calibri"/>
              </a:rPr>
              <a:t>Швейную промышленность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470000"/>
            <a:ext cx="10698480" cy="1050000"/>
          </a:xfrm>
          <a:prstGeom prst="roundRect">
            <a:avLst>
              <a:gd name="adj" fmla="val 12000"/>
            </a:avLst>
          </a:prstGeom>
          <a:solidFill>
            <a:srgbClr val="F4EFE7"/>
          </a:solidFill>
          <a:ln>
            <a:solidFill>
              <a:srgbClr val="F4E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/>
            <a:r>
              <a:rPr sz="2200" b="1">
                <a:solidFill>
                  <a:srgbClr val="A8432F"/>
                </a:solidFill>
                <a:latin typeface="Calibri"/>
              </a:rPr>
              <a:t>Б   </a:t>
            </a:r>
            <a:r>
              <a:rPr sz="2200" b="0">
                <a:solidFill>
                  <a:srgbClr val="1B2A41"/>
                </a:solidFill>
                <a:latin typeface="Calibri"/>
              </a:rPr>
              <a:t>Металлургическую промышленность</a:t>
            </a:r>
          </a:p>
        </p:txBody>
      </p:sp>
      <p:sp>
        <p:nvSpPr>
          <p:cNvPr id="6" name="answer"/>
          <p:cNvSpPr/>
          <p:nvPr/>
        </p:nvSpPr>
        <p:spPr>
          <a:xfrm>
            <a:off x="731520" y="3470000"/>
            <a:ext cx="10698480" cy="1050000"/>
          </a:xfrm>
          <a:prstGeom prst="roundRect">
            <a:avLst>
              <a:gd name="adj" fmla="val 12000"/>
            </a:avLst>
          </a:prstGeom>
          <a:solidFill>
            <a:srgbClr val="A8432F"/>
          </a:solidFill>
          <a:ln>
            <a:solidFill>
              <a:srgbClr val="A843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/>
            <a:r>
              <a:rPr sz="2200" b="1">
                <a:solidFill>
                  <a:srgbClr val="D9A441"/>
                </a:solidFill>
                <a:latin typeface="Calibri"/>
              </a:rPr>
              <a:t>✓  Б   </a:t>
            </a:r>
            <a:r>
              <a:rPr sz="2200" b="1">
                <a:solidFill>
                  <a:srgbClr val="FFFFFF"/>
                </a:solidFill>
                <a:latin typeface="Calibri"/>
              </a:rPr>
              <a:t>Металлургическую промышленность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690000"/>
            <a:ext cx="10698480" cy="1050000"/>
          </a:xfrm>
          <a:prstGeom prst="roundRect">
            <a:avLst>
              <a:gd name="adj" fmla="val 12000"/>
            </a:avLst>
          </a:prstGeom>
          <a:solidFill>
            <a:srgbClr val="F4EFE7"/>
          </a:solidFill>
          <a:ln>
            <a:solidFill>
              <a:srgbClr val="F4E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/>
            <a:r>
              <a:rPr sz="2200" b="1">
                <a:solidFill>
                  <a:srgbClr val="A8432F"/>
                </a:solidFill>
                <a:latin typeface="Calibri"/>
              </a:rPr>
              <a:t>В   </a:t>
            </a:r>
            <a:r>
              <a:rPr sz="2200" b="0">
                <a:solidFill>
                  <a:srgbClr val="1B2A41"/>
                </a:solidFill>
                <a:latin typeface="Calibri"/>
              </a:rPr>
              <a:t>Химическую промышленность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400000"/>
            <a:ext cx="1069848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100" b="0">
                <a:solidFill>
                  <a:srgbClr val="6B7686"/>
                </a:solidFill>
                <a:latin typeface="Calibri"/>
              </a:rPr>
              <a:t>Нажмите — правильный ответ подсветится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200" b="1" spc="300">
                <a:solidFill>
                  <a:srgbClr val="A8432F"/>
                </a:solidFill>
                <a:latin typeface="Calibri"/>
              </a:rPr>
              <a:t>ВИКТОРИНА · 5 / 6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50000"/>
            <a:ext cx="10698480" cy="1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2800" b="1">
                <a:solidFill>
                  <a:srgbClr val="1B2A41"/>
                </a:solidFill>
                <a:latin typeface="Cambria"/>
              </a:rPr>
              <a:t>Как распространялся кризис 1900–1902 годов?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250000"/>
            <a:ext cx="10698480" cy="1050000"/>
          </a:xfrm>
          <a:prstGeom prst="roundRect">
            <a:avLst>
              <a:gd name="adj" fmla="val 12000"/>
            </a:avLst>
          </a:prstGeom>
          <a:solidFill>
            <a:srgbClr val="F4EFE7"/>
          </a:solidFill>
          <a:ln>
            <a:solidFill>
              <a:srgbClr val="F4E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/>
            <a:r>
              <a:rPr sz="2200" b="1">
                <a:solidFill>
                  <a:srgbClr val="A8432F"/>
                </a:solidFill>
                <a:latin typeface="Calibri"/>
              </a:rPr>
              <a:t>А   </a:t>
            </a:r>
            <a:r>
              <a:rPr sz="2200" b="0">
                <a:solidFill>
                  <a:srgbClr val="1B2A41"/>
                </a:solidFill>
                <a:latin typeface="Calibri"/>
              </a:rPr>
              <a:t>США → Англия → Европа</a:t>
            </a:r>
          </a:p>
        </p:txBody>
      </p:sp>
      <p:sp>
        <p:nvSpPr>
          <p:cNvPr id="5" name="answer"/>
          <p:cNvSpPr/>
          <p:nvPr/>
        </p:nvSpPr>
        <p:spPr>
          <a:xfrm>
            <a:off x="731520" y="2250000"/>
            <a:ext cx="10698480" cy="1050000"/>
          </a:xfrm>
          <a:prstGeom prst="roundRect">
            <a:avLst>
              <a:gd name="adj" fmla="val 12000"/>
            </a:avLst>
          </a:prstGeom>
          <a:solidFill>
            <a:srgbClr val="A8432F"/>
          </a:solidFill>
          <a:ln>
            <a:solidFill>
              <a:srgbClr val="A843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/>
            <a:r>
              <a:rPr sz="2200" b="1">
                <a:solidFill>
                  <a:srgbClr val="D9A441"/>
                </a:solidFill>
                <a:latin typeface="Calibri"/>
              </a:rPr>
              <a:t>✓  А   </a:t>
            </a:r>
            <a:r>
              <a:rPr sz="2200" b="1">
                <a:solidFill>
                  <a:srgbClr val="FFFFFF"/>
                </a:solidFill>
                <a:latin typeface="Calibri"/>
              </a:rPr>
              <a:t>США → Англия → Европа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470000"/>
            <a:ext cx="10698480" cy="1050000"/>
          </a:xfrm>
          <a:prstGeom prst="roundRect">
            <a:avLst>
              <a:gd name="adj" fmla="val 12000"/>
            </a:avLst>
          </a:prstGeom>
          <a:solidFill>
            <a:srgbClr val="F4EFE7"/>
          </a:solidFill>
          <a:ln>
            <a:solidFill>
              <a:srgbClr val="F4E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/>
            <a:r>
              <a:rPr sz="2200" b="1">
                <a:solidFill>
                  <a:srgbClr val="A8432F"/>
                </a:solidFill>
                <a:latin typeface="Calibri"/>
              </a:rPr>
              <a:t>Б   </a:t>
            </a:r>
            <a:r>
              <a:rPr sz="2200" b="0">
                <a:solidFill>
                  <a:srgbClr val="1B2A41"/>
                </a:solidFill>
                <a:latin typeface="Calibri"/>
              </a:rPr>
              <a:t>Англия → США → Россия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690000"/>
            <a:ext cx="10698480" cy="1050000"/>
          </a:xfrm>
          <a:prstGeom prst="roundRect">
            <a:avLst>
              <a:gd name="adj" fmla="val 12000"/>
            </a:avLst>
          </a:prstGeom>
          <a:solidFill>
            <a:srgbClr val="F4EFE7"/>
          </a:solidFill>
          <a:ln>
            <a:solidFill>
              <a:srgbClr val="F4E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/>
            <a:r>
              <a:rPr sz="2200" b="1">
                <a:solidFill>
                  <a:srgbClr val="A8432F"/>
                </a:solidFill>
                <a:latin typeface="Calibri"/>
              </a:rPr>
              <a:t>В   </a:t>
            </a:r>
            <a:r>
              <a:rPr sz="2200" b="0">
                <a:solidFill>
                  <a:srgbClr val="1B2A41"/>
                </a:solidFill>
                <a:latin typeface="Calibri"/>
              </a:rPr>
              <a:t>Европа → США → Англия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400000"/>
            <a:ext cx="1069848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100" b="0">
                <a:solidFill>
                  <a:srgbClr val="6B7686"/>
                </a:solidFill>
                <a:latin typeface="Calibri"/>
              </a:rPr>
              <a:t>Нажмите — правильный ответ подсветится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200" b="1" spc="300">
                <a:solidFill>
                  <a:srgbClr val="A8432F"/>
                </a:solidFill>
                <a:latin typeface="Calibri"/>
              </a:rPr>
              <a:t>ВИКТОРИНА · 6 / 6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50000"/>
            <a:ext cx="10698480" cy="1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2800" b="1">
                <a:solidFill>
                  <a:srgbClr val="1B2A41"/>
                </a:solidFill>
                <a:latin typeface="Cambria"/>
              </a:rPr>
              <a:t>Как менялись цены, когда кризис углублялся?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250000"/>
            <a:ext cx="10698480" cy="1050000"/>
          </a:xfrm>
          <a:prstGeom prst="roundRect">
            <a:avLst>
              <a:gd name="adj" fmla="val 12000"/>
            </a:avLst>
          </a:prstGeom>
          <a:solidFill>
            <a:srgbClr val="F4EFE7"/>
          </a:solidFill>
          <a:ln>
            <a:solidFill>
              <a:srgbClr val="F4E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/>
            <a:r>
              <a:rPr sz="2200" b="1">
                <a:solidFill>
                  <a:srgbClr val="A8432F"/>
                </a:solidFill>
                <a:latin typeface="Calibri"/>
              </a:rPr>
              <a:t>А   </a:t>
            </a:r>
            <a:r>
              <a:rPr sz="2200" b="0">
                <a:solidFill>
                  <a:srgbClr val="1B2A41"/>
                </a:solidFill>
                <a:latin typeface="Calibri"/>
              </a:rPr>
              <a:t>Резко росли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470000"/>
            <a:ext cx="10698480" cy="1050000"/>
          </a:xfrm>
          <a:prstGeom prst="roundRect">
            <a:avLst>
              <a:gd name="adj" fmla="val 12000"/>
            </a:avLst>
          </a:prstGeom>
          <a:solidFill>
            <a:srgbClr val="F4EFE7"/>
          </a:solidFill>
          <a:ln>
            <a:solidFill>
              <a:srgbClr val="F4E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/>
            <a:r>
              <a:rPr sz="2200" b="1">
                <a:solidFill>
                  <a:srgbClr val="A8432F"/>
                </a:solidFill>
                <a:latin typeface="Calibri"/>
              </a:rPr>
              <a:t>Б   </a:t>
            </a:r>
            <a:r>
              <a:rPr sz="2200" b="0">
                <a:solidFill>
                  <a:srgbClr val="1B2A41"/>
                </a:solidFill>
                <a:latin typeface="Calibri"/>
              </a:rPr>
              <a:t>Оставались прежними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690000"/>
            <a:ext cx="10698480" cy="1050000"/>
          </a:xfrm>
          <a:prstGeom prst="roundRect">
            <a:avLst>
              <a:gd name="adj" fmla="val 12000"/>
            </a:avLst>
          </a:prstGeom>
          <a:solidFill>
            <a:srgbClr val="F4EFE7"/>
          </a:solidFill>
          <a:ln>
            <a:solidFill>
              <a:srgbClr val="F4E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/>
            <a:r>
              <a:rPr sz="2200" b="1">
                <a:solidFill>
                  <a:srgbClr val="A8432F"/>
                </a:solidFill>
                <a:latin typeface="Calibri"/>
              </a:rPr>
              <a:t>В   </a:t>
            </a:r>
            <a:r>
              <a:rPr sz="2200" b="0">
                <a:solidFill>
                  <a:srgbClr val="1B2A41"/>
                </a:solidFill>
                <a:latin typeface="Calibri"/>
              </a:rPr>
              <a:t>Постепенно падали</a:t>
            </a:r>
          </a:p>
        </p:txBody>
      </p:sp>
      <p:sp>
        <p:nvSpPr>
          <p:cNvPr id="7" name="answer"/>
          <p:cNvSpPr/>
          <p:nvPr/>
        </p:nvSpPr>
        <p:spPr>
          <a:xfrm>
            <a:off x="731520" y="4690000"/>
            <a:ext cx="10698480" cy="1050000"/>
          </a:xfrm>
          <a:prstGeom prst="roundRect">
            <a:avLst>
              <a:gd name="adj" fmla="val 12000"/>
            </a:avLst>
          </a:prstGeom>
          <a:solidFill>
            <a:srgbClr val="A8432F"/>
          </a:solidFill>
          <a:ln>
            <a:solidFill>
              <a:srgbClr val="A843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/>
            <a:r>
              <a:rPr sz="2200" b="1">
                <a:solidFill>
                  <a:srgbClr val="D9A441"/>
                </a:solidFill>
                <a:latin typeface="Calibri"/>
              </a:rPr>
              <a:t>✓  В   </a:t>
            </a:r>
            <a:r>
              <a:rPr sz="2200" b="1">
                <a:solidFill>
                  <a:srgbClr val="FFFFFF"/>
                </a:solidFill>
                <a:latin typeface="Calibri"/>
              </a:rPr>
              <a:t>Постепенно падали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400000"/>
            <a:ext cx="1069848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100" b="0">
                <a:solidFill>
                  <a:srgbClr val="6B7686"/>
                </a:solidFill>
                <a:latin typeface="Calibri"/>
              </a:rPr>
              <a:t>Нажмите — правильный ответ подсветится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2500000"/>
            <a:ext cx="10698480" cy="11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5400" b="1">
                <a:solidFill>
                  <a:srgbClr val="FFFFFF"/>
                </a:solidFill>
                <a:latin typeface="Cambria"/>
              </a:rPr>
              <a:t>Молодец!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3700000"/>
            <a:ext cx="914400" cy="45720"/>
          </a:xfrm>
          <a:prstGeom prst="rect">
            <a:avLst/>
          </a:prstGeom>
          <a:solidFill>
            <a:srgbClr val="D9A441"/>
          </a:solidFill>
          <a:ln>
            <a:solidFill>
              <a:srgbClr val="D9A4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00" b="0">
                <a:solidFill>
                  <a:srgbClr val="D9A441"/>
                </a:solidFill>
                <a:latin typeface="Calibri"/>
              </a:rPr>
              <a:t/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950000"/>
            <a:ext cx="10698480" cy="6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2000" b="0">
                <a:solidFill>
                  <a:srgbClr val="C9D1DC"/>
                </a:solidFill>
                <a:latin typeface="Calibri"/>
              </a:rPr>
              <a:t>Тема пройдена: экономические кризисы XIX–XX веков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agdarys">
  <a:themeElements>
    <a:clrScheme name="Dagdarys">
      <a:dk1>
        <a:srgbClr val="1B2A41"/>
      </a:dk1>
      <a:lt1>
        <a:srgbClr val="FFFFFF"/>
      </a:lt1>
      <a:dk2>
        <a:srgbClr val="24365A"/>
      </a:dk2>
      <a:lt2>
        <a:srgbClr val="F4EFE7"/>
      </a:lt2>
      <a:accent1>
        <a:srgbClr val="A8432F"/>
      </a:accent1>
      <a:accent2>
        <a:srgbClr val="D9A441"/>
      </a:accent2>
      <a:accent3>
        <a:srgbClr val="2A7F7A"/>
      </a:accent3>
      <a:accent4>
        <a:srgbClr val="4A5260"/>
      </a:accent4>
      <a:accent5>
        <a:srgbClr val="C9BFA8"/>
      </a:accent5>
      <a:accent6>
        <a:srgbClr val="8E3726"/>
      </a:accent6>
      <a:hlink>
        <a:srgbClr val="A8432F"/>
      </a:hlink>
      <a:folHlink>
        <a:srgbClr val="8E3726"/>
      </a:folHlink>
    </a:clrScheme>
    <a:fontScheme name="Dagdary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Экономикалық дағдарыстар</dc:title>
  <dc:subject>PptxGenJS Presentation</dc:subject>
  <dc:creator>PptxGenJS</dc:creator>
  <cp:lastModifiedBy>PptxGenJS</cp:lastModifiedBy>
  <cp:revision>1</cp:revision>
  <dcterms:created xsi:type="dcterms:W3CDTF">2026-10-08T12:53:53Z</dcterms:created>
  <dcterms:modified xsi:type="dcterms:W3CDTF">2026-10-08T12:53:53Z</dcterms:modified>
</cp:coreProperties>
</file>
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84c27b51-e42f-31ba-37f5-28f2be962589}">
          <p14:sldIdLst>
            <p14:sldId id="256"/>
          </p14:sldIdLst>
        </p14:section>
        <p14:section name="Дағдарыстар тарихы" id="{a6b1a34a-e460-c142-deae-e2c3bb206f65}">
          <p14:sldIdLst>
            <p14:sldId id="257"/>
            <p14:sldId id="258"/>
          </p14:sldIdLst>
        </p14:section>
        <p14:section name="Қорытынды және викторина" id="{027508ab-a020-b7b8-055d-fdd505e2daf6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Сәлемдесу. Тақырыпты атау: XIX–XX ғасырлардағы экономикалық дағдарыстар.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Дағдарыс алғаш рет 1825 жылы Англияда болды. Кейін 1836 жылы Англия мен АҚШ-та, 1841 жылы АҚШ-та, 1847 жылы АҚШ, Англия, Франция және Германияда болды. Одан соң 1873, 1882, 1890 жылдары дағдарыстар орын алды.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1900–1902 жылдардағы дағдарыс экономиканы бәрінен бұрын күйзелтті. Ол бір уақытта Ресей мен АҚШ-та басталып, алдымен металлургия өнеркәсібіне нұқсан келтірді. Кейін Англияға, содан соң Еуропа континентіне ауысты. Кейін тігін өнеркәсібі, одан кейін құрылыс, химия, көлік, электр өнеркәсіптері зардап шекті.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XIX және XX ғасырлардағы дағдарыстар қайталанып, барған сайын көп елді қамтыды. Бағалар бірте-бірте құлдырап, өнімді өткізудің мол мүмкіндігін жасады. Бұл болашақта дағдарыстан шығудың негізгі жолдарын іздеуге түрткі болды.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Сұрақты оқып, жауап күтіңіз. Содан кейін басыңыз — дұрыс жауап ашылады. 1) Англияда, кейін Англия мен АҚШ-та. 2) Металлургия өнеркәсібіне. 3) АҚШ, Англия, Франция және Германияда. 4) Бағалар бірте-бірте құлдырады.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548640"/>
            <a:ext cx="5696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243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1825–1902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8-СЫНЫП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Экономикалық дағдарыстар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26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XIX–XX ғасырлардағы күйзелістер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1005840" cy="457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440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Орындаған: ____________________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1825 — 1890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Дағдарыстар хронологиясы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19279" y="1874520"/>
            <a:ext cx="9350393" cy="0"/>
          </a:xfrm>
          <a:prstGeom prst="line">
            <a:avLst/>
          </a:prstGeom>
          <a:noFill/>
          <a:ln w="25400">
            <a:solidFill>
              <a:srgbClr val="C9B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0407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58806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9919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7079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427079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17205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318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85478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3985478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АҚШ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75604" y="1755648"/>
            <a:ext cx="237744" cy="237744"/>
          </a:xfrm>
          <a:prstGeom prst="ellipse">
            <a:avLst/>
          </a:prstGeom>
          <a:solidFill>
            <a:srgbClr val="A843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06717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F4EFE7"/>
          </a:solidFill>
          <a:ln w="12700">
            <a:solidFill>
              <a:srgbClr val="F4EF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43877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1847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5543877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Франция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Германия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34003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65115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02275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1873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102275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Жаңа дағдарыс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92402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3514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60674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1882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660674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Жаңа дағдарыс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650801" y="1755648"/>
            <a:ext cx="237744" cy="237744"/>
          </a:xfrm>
          <a:prstGeom prst="ellipse">
            <a:avLst/>
          </a:prstGeom>
          <a:solidFill>
            <a:srgbClr val="1B2A4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1913" y="2194560"/>
            <a:ext cx="1375519" cy="2286000"/>
          </a:xfrm>
          <a:prstGeom prst="roundRect">
            <a:avLst>
              <a:gd name="adj" fmla="val 797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19073" y="2331720"/>
            <a:ext cx="1101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1890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10219073" y="2971800"/>
            <a:ext cx="110119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Жаңа дағдарыс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1520" y="4800600"/>
            <a:ext cx="10725912" cy="1005840"/>
          </a:xfrm>
          <a:prstGeom prst="roundRect">
            <a:avLst>
              <a:gd name="adj" fmla="val 1363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4846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1900–1902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3840480" y="4846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экономиканы бәрінен бұрын күйзелткен дағдарыс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Дереккөз: оқулық мәтіні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ЕҢ АУЫР ДАҒДАРЫС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1900–1902 жылдардағы дағдарыс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Қайда басталды?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Ресей мен АҚШ-та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 уақытта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98264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8304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103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18304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Алдымен қай сала?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718304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Металлургия өнеркәсібі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718304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алғаш нұқсан келді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65008" y="1691640"/>
            <a:ext cx="3392424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5048" y="1965960"/>
            <a:ext cx="594360" cy="594360"/>
          </a:xfrm>
          <a:prstGeom prst="ellipse">
            <a:avLst/>
          </a:prstGeom>
          <a:solidFill>
            <a:srgbClr val="A8432F"/>
          </a:solidFill>
          <a:ln w="12700">
            <a:solidFill>
              <a:srgbClr val="A8432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1031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85048" y="269748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Қалай тарады?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85048" y="301752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АҚШ → Англия → Еуропа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385048" y="37490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американдық металл нарығы арқылы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Кейін зардап шеккен салалар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31520" y="5029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Тігін өнеркәсібі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3200400" y="5029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3840480" y="5029200"/>
            <a:ext cx="150876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Құрылыс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532120" y="5029200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Химия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949440" y="5029200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Көлік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366760" y="5029200"/>
            <a:ext cx="1325880" cy="54864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Дереккөз: оқулық мәтіні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8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E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ҚОРЫТЫНДЫ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Дағдарыстар не көрсетті?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Дағдарыстар қайталанып, барған сайын көп елді қамтығанын көрсетті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98264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64024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764024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Бағалар бірте-бірте құлдырап, өнімді өткізуге мол мүмкіндік туды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65008" y="1783080"/>
            <a:ext cx="3392424" cy="3291840"/>
          </a:xfrm>
          <a:prstGeom prst="roundRect">
            <a:avLst>
              <a:gd name="adj" fmla="val 4167"/>
            </a:avLst>
          </a:prstGeom>
          <a:solidFill>
            <a:srgbClr val="8E3726"/>
          </a:solidFill>
          <a:ln w="12700">
            <a:solidFill>
              <a:srgbClr val="8E37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2057400"/>
            <a:ext cx="2660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C9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3154680"/>
            <a:ext cx="2660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Болашақта дағдарыстан шығудың негізгі жолдарын іздеуге түрткі болды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ВИКТОРИНА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Сұрақ — жауап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Дағдарыс алғаш рет қай мемлекетте болған?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1691640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BF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Жауап — басыңыз</a:t>
            </a:r>
            <a:endParaRPr lang="en-US" sz="1400" dirty="0"/>
          </a:p>
        </p:txBody>
      </p:sp>
      <p:sp>
        <p:nvSpPr>
          <p:cNvPr id="6" name="answer1"/>
          <p:cNvSpPr/>
          <p:nvPr/>
        </p:nvSpPr>
        <p:spPr>
          <a:xfrm>
            <a:off x="7498080" y="1691640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Англияда (1825), кейін Англия мен АҚШ-та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 уақытта Ресей мен АҚШ-та болған дағдарыс қай өнеркәсіпке нұқсан келтірді?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0" y="2761488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BF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Жауап — басыңыз</a:t>
            </a:r>
            <a:endParaRPr lang="en-US" sz="1400" dirty="0"/>
          </a:p>
        </p:txBody>
      </p:sp>
      <p:sp>
        <p:nvSpPr>
          <p:cNvPr id="9" name="answer2"/>
          <p:cNvSpPr/>
          <p:nvPr/>
        </p:nvSpPr>
        <p:spPr>
          <a:xfrm>
            <a:off x="7498080" y="2761488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Металлургия өнеркәсібіне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31336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1847 жылғы дағдарыс қай мемлекеттерде болды?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3831336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BF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Жауап — басыңыз</a:t>
            </a:r>
            <a:endParaRPr lang="en-US" sz="1400" dirty="0"/>
          </a:p>
        </p:txBody>
      </p:sp>
      <p:sp>
        <p:nvSpPr>
          <p:cNvPr id="12" name="answer3"/>
          <p:cNvSpPr/>
          <p:nvPr/>
        </p:nvSpPr>
        <p:spPr>
          <a:xfrm>
            <a:off x="7498080" y="3831336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АҚШ, Англия, Франция және Германияда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901184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4EFE7"/>
          </a:solidFill>
          <a:ln>
            <a:solidFill>
              <a:srgbClr val="F4EFE7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4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Дағдарыс тереңдегенде бағалар қалай өзгерді?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4901184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9BFA8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Жауап — басыңыз</a:t>
            </a:r>
            <a:endParaRPr lang="en-US" sz="1400" dirty="0"/>
          </a:p>
        </p:txBody>
      </p:sp>
      <p:sp>
        <p:nvSpPr>
          <p:cNvPr id="15" name="answer4"/>
          <p:cNvSpPr/>
          <p:nvPr/>
        </p:nvSpPr>
        <p:spPr>
          <a:xfrm>
            <a:off x="7498080" y="4901184"/>
            <a:ext cx="3959352" cy="914400"/>
          </a:xfrm>
          <a:prstGeom prst="roundRect">
            <a:avLst>
              <a:gd name="adj" fmla="val 12000"/>
            </a:avLst>
          </a:prstGeom>
          <a:solidFill>
            <a:srgbClr val="A8432F"/>
          </a:solidFill>
          <a:ln>
            <a:solidFill>
              <a:srgbClr val="A8432F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Бірте-бірте құлдырады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Әр басқан сайын келесі жауап ашылады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theme/theme1.xml><?xml version="1.0" encoding="utf-8"?>
<a:theme xmlns:a="http://schemas.openxmlformats.org/drawingml/2006/main" name="Dagdarys">
  <a:themeElements>
    <a:clrScheme name="Dagdarys">
      <a:dk1>
        <a:srgbClr val="1B2A41"/>
      </a:dk1>
      <a:lt1>
        <a:srgbClr val="FFFFFF"/>
      </a:lt1>
      <a:dk2>
        <a:srgbClr val="24365A"/>
      </a:dk2>
      <a:lt2>
        <a:srgbClr val="F4EFE7"/>
      </a:lt2>
      <a:accent1>
        <a:srgbClr val="A8432F"/>
      </a:accent1>
      <a:accent2>
        <a:srgbClr val="D9A441"/>
      </a:accent2>
      <a:accent3>
        <a:srgbClr val="2A7F7A"/>
      </a:accent3>
      <a:accent4>
        <a:srgbClr val="4A5260"/>
      </a:accent4>
      <a:accent5>
        <a:srgbClr val="C9BFA8"/>
      </a:accent5>
      <a:accent6>
        <a:srgbClr val="8E3726"/>
      </a:accent6>
      <a:hlink>
        <a:srgbClr val="A8432F"/>
      </a:hlink>
      <a:folHlink>
        <a:srgbClr val="8E3726"/>
      </a:folHlink>
    </a:clrScheme>
    <a:fontScheme name="Dagdary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Экономикалық дағдарыстар</dc:title>
  <dc:subject>PptxGenJS Presentation</dc:subject>
  <dc:creator>PptxGenJS</dc:creator>
  <cp:lastModifiedBy>PptxGenJS</cp:lastModifiedBy>
  <cp:revision>1</cp:revision>
  <dcterms:created xsi:type="dcterms:W3CDTF">2026-10-08T12:53:53Z</dcterms:created>
  <dcterms:modified xsi:type="dcterms:W3CDTF">2026-10-08T12:53:53Z</dcterms:modified>
</cp:coreProperties>
</file>